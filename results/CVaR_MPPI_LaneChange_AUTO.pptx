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1A1A1A"/>
                </a:solidFill>
              </a:rPr>
              <a:t>Risk-Aware Lane-Change Planning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CC3333"/>
                </a:solidFill>
              </a:rPr>
              <a:t>via Online CVaR-Augmented MPPI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1">
                <a:solidFill>
                  <a:srgbClr val="808080"/>
                </a:solidFill>
              </a:rPr>
              <a:t>Ayush Agrawal · ECE M237 (Dynamic Programming) · UCLA Spring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Where this project sits in ECE M237 (Dynamic Programming).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686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808080"/>
                </a:solidFill>
              </a:rPr>
              <a:t>Two course pillars are combined: MDP value iteration (offline) and receding-horizon path-integral control (online). The CVaR objective extends both from risk-neutral to risk-sensitive DP.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74519"/>
          <a:ext cx="112471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38912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Course topic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Lecture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This project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MDP formulation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(X, A, P, C, γ)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Lane × gap × ego speed × confidence y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Bellman optimality op.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V*(x) = min_a [C + γ E V*(x')]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CVaR-Bellman:  T[V](x, y),  eq. (2)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Value iteration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γ-contraction → fixed 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Offline V*(x, y) on 10³ × 21 grid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HJB / path integral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Cole-Hopf linearisation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MPPI sampling (Williams 2017)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Receding-horizon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Truncate at K, replan every Δt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MPPI loop at 20 Hz, K = 30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/>
                        <a:t>Risk-sensitive 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CVaR-MDP (Chow 2015)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Lagrangian penalty J_C per rollout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" y="5943600"/>
            <a:ext cx="10972800" cy="6400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600" b="1">
                <a:solidFill>
                  <a:srgbClr val="1A1A1A"/>
                </a:solidFill>
              </a:rPr>
              <a:t>Two-stage method = offline DP (long horizon, coarse grid) + online RHC (fine state, K-step rollout). Both pieces are DP-derived.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When optimising the mean isn't enough.</a:t>
            </a:r>
          </a:p>
        </p:txBody>
      </p:sp>
      <p:pic>
        <p:nvPicPr>
          <p:cNvPr id="3" name="Picture 2" descr="cvar_hist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822960"/>
            <a:ext cx="82296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</a:rPr>
              <a:t>•  Highway lane-changes:  hundreds of routine outcomes for every catastrophic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</a:rPr>
              <a:t>•  Standard MPC averages over all of them — the catastrophic 1-in-20 is invisible.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A1A1A"/>
                </a:solidFill>
              </a:rPr>
              <a:t>•  The right object for that tail is CVaR.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Two ideas in one slide.</a:t>
            </a:r>
          </a:p>
        </p:txBody>
      </p:sp>
      <p:pic>
        <p:nvPicPr>
          <p:cNvPr id="3" name="Picture 2" descr="mppi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215152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108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808080"/>
                </a:solidFill>
              </a:rPr>
              <a:t>MPPI  =  best-of-many-random-plans, weighted by cost.</a:t>
            </a:r>
          </a:p>
        </p:txBody>
      </p:sp>
      <p:pic>
        <p:nvPicPr>
          <p:cNvPr id="5" name="Picture 4" descr="cvar_histogram_sm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474720"/>
            <a:ext cx="8503920" cy="315859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92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1">
                <a:solidFill>
                  <a:srgbClr val="808080"/>
                </a:solidFill>
              </a:rPr>
              <a:t>Not just the mean, not just the worst case — the average over the bad tail.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Problem formulation.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1A"/>
                </a:solidFill>
              </a:rPr>
              <a:t>min_v   E[  φ(x_K)  +  Σ_{k=0}^{K-1} (  q(x_k)  +  (λ/2)·v_kᵀ·Σ_ε⁻¹·v_k  )  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CC3333"/>
                </a:solidFill>
              </a:rPr>
              <a:t>s.t.   CVaR_α(  L(x̃)  )   ≤   C_u                              (1)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2011680"/>
          <a:ext cx="114300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572000"/>
                <a:gridCol w="4114800"/>
              </a:tblGrid>
              <a:tr h="39069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Symbol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Definition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1A1A"/>
                          </a:solidFill>
                        </a:rPr>
                        <a:t>Physical significance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x_k = (X, Y, ψ, v) ⊕ 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Joint ego–traffic state (bicycle pose + 10 IDM cars)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What the planner conditions on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u_k = v_k + ε_k,  ε_k~N(0, Σ_ε)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Mean control + Gaussian exploration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Candidate controls MPPI scores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F,  F̃                        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Nominal / disturbed dynamics; E_w[F̃] = F  (unbiased)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Plan on F, measure risk on F̃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q(x_k)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Running task cost: lane, speed, collision potential, effort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Drives lane change and comfort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φ(x_K)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Terminal cost = V*(x_K, y) from offline CVaR-VI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Tail risk beyond horizon K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(λ/2)·v_kᵀ·Σ_ε⁻¹·v_k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MPPI control regulariser from Cole-Hopf derivation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KL price of shifting noise mean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L(x̃) = Σ_k ℓ(x̃_k)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Trajectory risk: TTC shortfall + lateral encroachment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Random variable CVaR caps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CVaR_α(L) = E[L | L ≥ VaR_α]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Mean of the worst (1−α) tail of L over disturbances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How bad the rare events are</a:t>
                      </a:r>
                    </a:p>
                  </a:txBody>
                  <a:tcPr/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200" b="0"/>
                        <a:t>α ∈ (0,1)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Confidence level (we use α = 0.9 → worst 10 % tail)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Tunes risk aversion</a:t>
                      </a:r>
                    </a:p>
                  </a:txBody>
                  <a:tcPr/>
                </a:tc>
              </a:tr>
              <a:tr h="390700">
                <a:tc>
                  <a:txBody>
                    <a:bodyPr/>
                    <a:lstStyle/>
                    <a:p>
                      <a:r>
                        <a:rPr sz="1200" b="0"/>
                        <a:t>C_u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Operator-chosen tail-risk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/>
                        <a:t>Hard cap on average tail severity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4008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3333"/>
                </a:solidFill>
              </a:rPr>
              <a:t>Objective is risk-neutral.  The CVaR constraint forces tail-awareness.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Online CVaR inside MPPI's cost aggregator.</a:t>
            </a:r>
          </a:p>
        </p:txBody>
      </p:sp>
      <p:pic>
        <p:nvPicPr>
          <p:cNvPr id="3" name="Picture 2" descr="mppi_flowchart_c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77240"/>
            <a:ext cx="11430000" cy="295835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7033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1">
                <a:solidFill>
                  <a:srgbClr val="1A1A1A"/>
                </a:solidFill>
              </a:rPr>
              <a:t>min E[J_task]   s.t.   CVaR_α( L_risk )  ≤  C_u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4389120"/>
          <a:ext cx="103327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3474720"/>
                <a:gridCol w="4297680"/>
              </a:tblGrid>
              <a:tr h="493776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Offline CVaR-MDP</a:t>
                      </a:r>
                    </a:p>
                    <a:p>
                      <a:r>
                        <a:rPr sz="1400" b="1"/>
                        <a:t>(Chow 2015)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C3333"/>
                          </a:solidFill>
                        </a:rPr>
                        <a:t>Online CVaR-MPPI</a:t>
                      </a:r>
                    </a:p>
                    <a:p>
                      <a:r>
                        <a:rPr sz="1400" b="1">
                          <a:solidFill>
                            <a:srgbClr val="CC3333"/>
                          </a:solidFill>
                        </a:rPr>
                        <a:t>(this work)</a:t>
                      </a:r>
                    </a:p>
                  </a:txBody>
                  <a:tcPr/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CVaR computed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Pre-computed VI table</a:t>
                      </a:r>
                    </a:p>
                    <a:p>
                      <a:r>
                        <a:rPr sz="1400" b="0"/>
                        <a:t>(state × budget)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Monte-Carlo,</a:t>
                      </a:r>
                    </a:p>
                    <a:p>
                      <a:r>
                        <a:rPr sz="1400" b="0"/>
                        <a:t>every 50 ms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Continuous state?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Exponential blow-up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Sampling-based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Re-tunable in deploy?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Rebuild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Change C_u  &amp;  rerun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400" b="0"/>
                        <a:t>Real-time?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≈ 80 ms / cycle on CPU</a:t>
                      </a:r>
                    </a:p>
                  </a:txBody>
                  <a:tcPr>
                    <a:solidFill>
                      <a:srgbClr val="FE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Same seed.  Same noise.  Different aggregator.  Different outcome.</a:t>
            </a:r>
          </a:p>
        </p:txBody>
      </p:sp>
      <p:pic>
        <p:nvPicPr>
          <p:cNvPr id="3" name="Picture 2" descr="mppi_crash_firs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868680"/>
            <a:ext cx="5760720" cy="1440180"/>
          </a:xfrm>
          <a:prstGeom prst="rect">
            <a:avLst/>
          </a:prstGeom>
        </p:spPr>
      </p:pic>
      <p:pic>
        <p:nvPicPr>
          <p:cNvPr id="4" name="Picture 3" descr="mppi_crash_first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5760720" cy="1440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C3333"/>
                </a:solidFill>
              </a:rPr>
              <a:t>MPPI — crashed @ 6.5 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3108960"/>
            <a:ext cx="5760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E864A"/>
                </a:solidFill>
              </a:rPr>
              <a:t>CVaR-MPPI — survived 20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49039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CC3333"/>
                </a:solidFill>
              </a:rPr>
              <a:t>75 ×  TTC margin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286000" y="4937760"/>
          <a:ext cx="75895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9840"/>
                <a:gridCol w="2529840"/>
                <a:gridCol w="2529840"/>
              </a:tblGrid>
              <a:tr h="347472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MPPI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CVaR-MPPI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Outcome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🔴 crashed 6.5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🟢 survived 20 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TTC_min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0.01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0.75 s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e_y,RMS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0.762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0.219 m</a:t>
                      </a:r>
                    </a:p>
                  </a:txBody>
                  <a:tcPr/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400" b="1"/>
                        <a:t>a_y,peak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15.2 m/s²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17.1 m/s²  (cost of safety)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Across 30 paired runs — three stories.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22960"/>
                <a:gridCol w="1463040"/>
                <a:gridCol w="1828800"/>
                <a:gridCol w="4389120"/>
              </a:tblGrid>
              <a:tr h="617220">
                <a:tc>
                  <a:txBody>
                    <a:bodyPr/>
                    <a:lstStyle/>
                    <a:p>
                      <a:r>
                        <a:rPr sz="1400" b="1"/>
                        <a:t>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MPPI crash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CVaR crash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/>
                        <a:t>Notable per-seed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0"/>
                        <a:t>lane_change (mixed dir.)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0/10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CC3333"/>
                          </a:solidFill>
                        </a:rPr>
                        <a:t>1/10 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seed 2: CVaR collides where MPPI survived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0"/>
                        <a:t>cutin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1/10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E864A"/>
                          </a:solidFill>
                        </a:rPr>
                        <a:t>seed 2: min_dist 2.19 → 4.31 m  (+97 %)</a:t>
                      </a:r>
                    </a:p>
                  </a:txBody>
                  <a:tcPr/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400" b="0"/>
                        <a:t>hard_brake (paired)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/>
                        <a:t>False (bit-identical)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E864A"/>
                          </a:solidFill>
                        </a:rPr>
                        <a:t>CVaR silent ⇒ no-regret  ✓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2E864A"/>
                </a:solidFill>
              </a:rPr>
              <a:t>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9319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</a:rPr>
              <a:t>Helps decisively when F̃ spans the hazard (single-seed lane_change).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A1A1A"/>
                </a:solidFill>
              </a:rPr>
              <a:t>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</a:rPr>
              <a:t>Silent when baseline is already safe — bit-identical trajectories on hard_brake  =  no-regret.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CC3333"/>
                </a:solidFill>
              </a:rPr>
              <a:t>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212079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A1A1A"/>
                </a:solidFill>
              </a:rPr>
              <a:t>Can regress on noisy-tail seeds (sweep seed 2).  Parameter-sensitive.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1A1A1A"/>
                </a:solidFill>
              </a:rPr>
              <a:t>What I learned.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</a:rPr>
              <a:t>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0058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CVaR helps only when F̃ spans the hazard.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15087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Scripted out-of-distribution braking ⇒ silent; natural traffic perturbations ⇒ active.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</a:rPr>
              <a:t>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No-regret is provable and verified.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51460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J_C ≡ 0  ⇒  S̃ = S  bit-for-bit  (confirmed on hard_brake).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</a:rPr>
              <a:t>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01752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Calibrating C_u is the hardest knob.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52044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Built per-step  n_over_budget / cvar_max  logging so the penalty's activity is observable, not assumed.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23360"/>
            <a:ext cx="731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0" i="0">
                <a:solidFill>
                  <a:srgbClr val="1A1A1A"/>
                </a:solidFill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4023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i="0">
                <a:solidFill>
                  <a:srgbClr val="1A1A1A"/>
                </a:solidFill>
              </a:rPr>
              <a:t>Soft constraints can regress at the margin.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52628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08080"/>
                </a:solidFill>
              </a:rPr>
              <a:t>Future work: hard-constrained CVaR via Chow's confidence-set formulation.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486400"/>
            <a:ext cx="10972800" cy="86868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CC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800" b="1">
                <a:solidFill>
                  <a:srgbClr val="1A1A1A"/>
                </a:solidFill>
              </a:rPr>
              <a:t>Online CVaR-MPPI delivers selective tail shaping:  invisible when unneeded, decisive when needed, transparent when wrong.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